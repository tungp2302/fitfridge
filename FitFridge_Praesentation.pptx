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4340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FitFridge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50292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EE"/>
                </a:solidFill>
              </a:rPr>
              <a:t>Von der Vorlesung zur Produktion — Adaptive Systems &amp; Artificial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1097280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227832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LLMs / RAG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272" y="3200400"/>
            <a:ext cx="1508760" cy="25603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9424" y="3227832"/>
            <a:ext cx="1417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Agentic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9624" y="3200400"/>
            <a:ext cx="1179576" cy="25603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22776" y="3227832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Recommender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93792" y="3200400"/>
            <a:ext cx="768096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3227832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MAPE-K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3200400"/>
            <a:ext cx="1508760" cy="256032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3227832"/>
            <a:ext cx="14173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Schichtenmodell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CC"/>
                </a:solidFill>
              </a:rPr>
              <a:t>Python 3.10+  ·  Flask 3  ·  SQLite  ·  Ollama (qwen3.5:latest)  ·  Jinja2  ·  Vanilla-JS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99BB"/>
                </a:solidFill>
              </a:rPr>
              <a:t>~2.500 Zeilen Python  ·  39 Tests ✅  ·  2 KI-Integrationen  ·  7 Datenbanktabellen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799"/>
                </a:solidFill>
              </a:rPr>
              <a:t>HAW Hamburg – Adaptive Systems &amp; AI  ·  30.06.2026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Was euch heute erwartet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2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0292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5331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984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Motivation &amp;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5179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Was ist FitFridge? Warum wurde es gebaut?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502920" cy="47548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011680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568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Tech-Stack &amp; Architektur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762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Schichtenmodell, Blueprints, SQLite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96896"/>
            <a:ext cx="502920" cy="475488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670048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61518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SE-Kern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83463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Datenbankschema, Barcode-Scanner, Suche, Mahlzeiten-Tracker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55264"/>
            <a:ext cx="502920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328416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735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4930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Retrieval-Augmented Generation — Kühlschrank als Kontext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13631"/>
            <a:ext cx="502920" cy="475488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986783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3191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Agentic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151375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Retry-Schleife mit Validierungs-Feedback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2000"/>
            <a:ext cx="50292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64515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5902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Recommender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80974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Content-Based Filtering, Makro-Matching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30368"/>
            <a:ext cx="502920" cy="47548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5303520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2486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MAPE-K / Adaptive Systems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4681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Koordinatenabstieg zur Makro-Reparatur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88736"/>
            <a:ext cx="502920" cy="475488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5961888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907023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Tests &amp; Takeaway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612647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39 Tests, alle grün — was haben wir gelernt?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1234440"/>
            <a:ext cx="5303520" cy="5394960"/>
          </a:xfrm>
          <a:prstGeom prst="rect">
            <a:avLst/>
          </a:prstGeom>
          <a:solidFill>
            <a:srgbClr val="E8F4FD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Vorlesungs-Konzepte in diesem Projekt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1737360"/>
            <a:ext cx="54864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17373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LLMs &amp; In-Context Learning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193852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7799"/>
                </a:solidFill>
              </a:rPr>
              <a:t>food_estimate.py, ollama_client.py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0840" y="2286000"/>
            <a:ext cx="54864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22860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RAG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248716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7799"/>
                </a:solidFill>
              </a:rPr>
              <a:t>freestyle_recipe.py:build_prompt()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0840" y="2834639"/>
            <a:ext cx="54864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03720" y="2834639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Agentic Systems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303580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7799"/>
                </a:solidFill>
              </a:rPr>
              <a:t>freestyle_recipe.py:_run()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3383279"/>
            <a:ext cx="54864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3720" y="3383279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Recommender Systems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358444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7799"/>
                </a:solidFill>
              </a:rPr>
              <a:t>freestyle_recipe_support.py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20840" y="3931920"/>
            <a:ext cx="54864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39319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Adaptive Systems / MAPE-K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4133087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7799"/>
                </a:solidFill>
              </a:rPr>
              <a:t>freestyle_recipe_support.py:_fit_amounts()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4480560"/>
            <a:ext cx="54864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3720" y="44805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Kontextbasierte Adaptivität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468172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7799"/>
                </a:solidFill>
              </a:rPr>
              <a:t>_macro_strategy_hint()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20840" y="5029200"/>
            <a:ext cx="54864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03720" y="50292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Nutzerbasierte Adaptivität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523036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7799"/>
                </a:solidFill>
              </a:rPr>
              <a:t>macros_within_targets()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20840" y="5577840"/>
            <a:ext cx="54864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03720" y="55778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Systemzentrische Adaptivität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5779007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7799"/>
                </a:solidFill>
              </a:rPr>
              <a:t>Retry-Schleife + Validierung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Was ist FitFridge?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Motivation &amp; Problemstellung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3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303520" cy="22860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030"/>
                </a:solidFill>
              </a:rPr>
              <a:t>❌  Das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Du öffnest den Kühlschrank — und weißt nicht, was du kochen sollst.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019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Du hast ein Fitness-Ziel (2200 kcal, 160g Protein) — aber keine Ahnung ob das Rezept passt.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408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Lebensmittel verfallen, weil du den Überblick verlierst.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7977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Bestehende Apps schlagen generische Rezepte vor, ignorieren deinen echten Bestand.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486400" cy="2286000"/>
          </a:xfrm>
          <a:prstGeom prst="rect">
            <a:avLst/>
          </a:prstGeom>
          <a:solidFill>
            <a:srgbClr val="F0FFF0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097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8038"/>
                </a:solidFill>
              </a:rPr>
              <a:t>✅  FitFridge löst 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48132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✦  Digitaler Kühlschrank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6916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Immer wissen, was du hast — inkl. Nährwerte je 100g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✦  Barcode-Scanner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3055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Produkt einscannen → OpenFoodFacts → sofort im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5915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✦  KI-Rezeptplaner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56946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LLM generiert Rezepte NUR aus deinen echten Zutaten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980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✦  Makro-Garantie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00837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Automatische Anpassung auf dein individuelles Tagesziel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20440"/>
            <a:ext cx="11247120" cy="1005840"/>
          </a:xfrm>
          <a:prstGeom prst="rect">
            <a:avLst/>
          </a:prstGeom>
          <a:solidFill>
            <a:srgbClr val="E8F0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566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Relevanz für die Vorlesung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8587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FitFridge verbindet alle fünf Themenblöcke der Vorlesung in einer einzigen, lauffähigen Applikation: LLMs · RAG · Agentic Systems · Recommender Systems · Adaptive Systems / MAPE-K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709160"/>
            <a:ext cx="18288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00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Kühlschrank
anlegen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0017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4709160"/>
            <a:ext cx="1828800" cy="8229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4800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Barcode
scannen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50017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4709160"/>
            <a:ext cx="1828800" cy="82296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800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Tagesziel
setzen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0017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4709160"/>
            <a:ext cx="182880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4800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Rezept
generieren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50017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4709160"/>
            <a:ext cx="1828800" cy="82296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4800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Mahlzeit
loggen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7777"/>
                </a:solidFill>
              </a:rPr>
              <a:t>Login: demo / demo  ·  DB-Reset bei jedem Start (reproduzierbarer Demo-Zustand)  ·  Ollama läuft lokal (keine API-Kosten)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Tech-Stack auf einen 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Technologien &amp; Designentscheidungen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4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2011680" cy="301752"/>
          </a:xfrm>
          <a:prstGeom prst="rect">
            <a:avLst/>
          </a:prstGeom>
          <a:solidFill>
            <a:srgbClr val="1A2B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338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Schicht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097280"/>
            <a:ext cx="3291840" cy="301752"/>
          </a:xfrm>
          <a:prstGeom prst="rect">
            <a:avLst/>
          </a:prstGeom>
          <a:solidFill>
            <a:srgbClr val="1A2B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133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Technologie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097280"/>
            <a:ext cx="5943600" cy="301752"/>
          </a:xfrm>
          <a:prstGeom prst="rect">
            <a:avLst/>
          </a:prstGeom>
          <a:solidFill>
            <a:srgbClr val="1A2B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13385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Begründung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399032"/>
            <a:ext cx="201168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42646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1399032"/>
            <a:ext cx="329184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14264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Python 3.10+, Flask 3 (Blueprint-Pattern)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1399032"/>
            <a:ext cx="594360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1426464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Minimal, kein Overhead. Blueprints ermöglichen SE/ASAAI-Trennung.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700784"/>
            <a:ext cx="20116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72821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Datenbank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1700784"/>
            <a:ext cx="32918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17282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SQLite (Python-Stdlib, kein Server)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1700784"/>
            <a:ext cx="5943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172821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Ideal für Uni-Setup: eine Datei, kein Migrationstool nötig.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002536"/>
            <a:ext cx="201168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02996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Frontend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2002536"/>
            <a:ext cx="329184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202996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Jinja2-Templates + Vanilla-JS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002536"/>
            <a:ext cx="594360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029967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Kein Build-Tool, kein Framework — serverseitiges Rendering für SE, fetch-API für ASAAI.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304288"/>
            <a:ext cx="20116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3317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KI-Backend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2304288"/>
            <a:ext cx="32918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4600" y="2331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Ollama lokal (qwen3.5:latest, 9B)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304288"/>
            <a:ext cx="5943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40" y="233172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Läuft offline, keine API-Kosten, wechselbar über App-Settings.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06040"/>
            <a:ext cx="201168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6334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Externe Daten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2606040"/>
            <a:ext cx="329184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2633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OpenFoodFacts API (urllib, kein requests)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2606040"/>
            <a:ext cx="594360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06440" y="263347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Freie Produktdatenbank, 60M Produkte. Nur Stdlib-HTTP.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907791"/>
            <a:ext cx="20116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93522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Authentifizierung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2907791"/>
            <a:ext cx="32918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14600" y="293522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Werkzeug Password-Hashing (Flask-intern)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2907791"/>
            <a:ext cx="59436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2935223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Kein JWT, kein OAuth-Overhead — ausreichend für diesen Kontext.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209544"/>
            <a:ext cx="201168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236975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Tests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68880" y="3209544"/>
            <a:ext cx="329184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14600" y="32369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pytest + monkeypatch (offline)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3209544"/>
            <a:ext cx="594360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06440" y="3236975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Externe Dienste werden ersetzt, alle 39 Tests laufen ohne Netz.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solidFill>
            <a:srgbClr val="FFFDF0"/>
          </a:solidFill>
          <a:ln w="1016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4343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Bewusste Entscheidungen — was wir NICHT verwendet haben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4709160"/>
            <a:ext cx="5303520" cy="64008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7457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31E"/>
                </a:solidFill>
              </a:rPr>
              <a:t>Kein SQLAlchemy / ORM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Explizites SQL ist für die Zielgruppe transparenter und leichter zu testen.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4709160"/>
            <a:ext cx="5303520" cy="64008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47457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31E"/>
                </a:solidFill>
              </a:rPr>
              <a:t>Kein React/Vue/Angular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Vanilla-JS ist ausreichend. Kein Build-Step = jeder kann sofort starten.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5458968"/>
            <a:ext cx="5303520" cy="64008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49554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31E"/>
                </a:solidFill>
              </a:rPr>
              <a:t>Kein Cloud-LLM (OpenAI, Gemini)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57332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Ollama ist lokal, offline und kostenlos — wichtig für Datenschutz und Reproduzierbarkeit.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5458968"/>
            <a:ext cx="5303520" cy="64008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3640" y="549554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31E"/>
                </a:solidFill>
              </a:rPr>
              <a:t>Kein Celery/Task-Queue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7332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Zweistufiges Laden via fetch-API reicht, ohne Background-Worker-Infrastruktur.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Systemarchitektur — Schichtenmodell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5 strikt getrennte Schichten · Abhängigkeiten nur nach unten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5 / 18</a:t>
            </a:r>
          </a:p>
        </p:txBody>
      </p:sp>
      <p:pic>
        <p:nvPicPr>
          <p:cNvPr id="8" name="Picture 7" descr="FitFridge_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498079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955279" y="1005840"/>
            <a:ext cx="4023360" cy="5577840"/>
          </a:xfrm>
          <a:prstGeom prst="rect">
            <a:avLst/>
          </a:prstGeom>
          <a:solidFill>
            <a:srgbClr val="F8F9FF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078992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</a:rPr>
              <a:t>5 Schichten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08760"/>
            <a:ext cx="164592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Jinja2-Templates + planner.js + barcode_scan.js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468880"/>
            <a:ext cx="164592" cy="6400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Routen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routes.py (SE-Blueprint) + routes_asaai.py (JSON-API)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429000"/>
            <a:ext cx="164592" cy="640080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4290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03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Fachlogik: fridge_service, meal_tracker, freestyle_recipe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389120"/>
            <a:ext cx="16459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3891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663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Reines SQL: product_repo, fridge_repo, meal_tracker_repo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5349240"/>
            <a:ext cx="164592" cy="6400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53492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Infrastruktur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62355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db.py, ollama_client, openfoodfacts_client, calculations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6263640"/>
            <a:ext cx="3794760" cy="2011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6281928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5C518"/>
                </a:solidFill>
              </a:rPr>
              <a:t>Pfeile zeigen nur nach unten — höhere Schicht ruft tiefere auf, nie umgekehrt.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Teil A — SE-Kern: Datenbankschema &amp; Schichtenreinheit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94960" cy="5349240"/>
          </a:xfrm>
          <a:prstGeom prst="rect">
            <a:avLst/>
          </a:prstGeom>
          <a:solidFill>
            <a:srgbClr val="F5F5FF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7 Datenbanktabellen (schema.sql)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307592"/>
            <a:ext cx="5431536" cy="4700016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2120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4D4D4"/>
                </a:solidFill>
                <a:latin typeface="Courier New"/>
              </a:rPr>
              <a:t>user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id, username, password (Werkzeug-Hash)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product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name, brand, barcode (UNIQUE)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kcal / protein / fat / carbs _per_100g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grams_per_piece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fridge_item</a:t>
            </a:r>
          </a:p>
          <a:p>
            <a:r>
              <a:rPr sz="900">
                <a:solidFill>
                  <a:srgbClr val="4EC9B0"/>
                </a:solidFill>
                <a:latin typeface="Courier New"/>
              </a:rPr>
              <a:t>  user_id → user.id</a:t>
            </a:r>
          </a:p>
          <a:p>
            <a:r>
              <a:rPr sz="900">
                <a:solidFill>
                  <a:srgbClr val="4EC9B0"/>
                </a:solidFill>
                <a:latin typeface="Courier New"/>
              </a:rPr>
              <a:t>  product_id → product.id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current_amount, unit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meal_tracker_settings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user_id (UNIQUE)  ← UPSERT-Ziel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daily_kcal, protein_pct, carbs_pct, fat_pct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meal_tracker_entry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user_id, meal_name, amount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kcal, protein_g, carbs_g, fat_g, eaten_at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saved_recipe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user_id, title (separat!)</a:t>
            </a:r>
          </a:p>
          <a:p>
            <a:r>
              <a:rPr sz="900">
                <a:solidFill>
                  <a:srgbClr val="4EC9B0"/>
                </a:solidFill>
                <a:latin typeface="Courier New"/>
              </a:rPr>
              <a:t>  data → JSON-Blob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app_settings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user_id (UNIQUE)  ← UPSERT-Ziel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llm_model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05840"/>
            <a:ext cx="5760720" cy="2468880"/>
          </a:xfrm>
          <a:prstGeom prst="rect">
            <a:avLst/>
          </a:prstGeom>
          <a:solidFill>
            <a:srgbClr val="F0FFF5"/>
          </a:solidFill>
          <a:ln w="1016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Schichtenreinheit — die Regel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1032" y="1307592"/>
            <a:ext cx="5797296" cy="2258568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17320"/>
            <a:ext cx="5577840" cy="1993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A9955"/>
                </a:solidFill>
                <a:latin typeface="Courier New"/>
              </a:rPr>
              <a:t># product_repo.py  → NUR SQL</a:t>
            </a:r>
          </a:p>
          <a:p>
            <a:r>
              <a:rPr sz="800">
                <a:solidFill>
                  <a:srgbClr val="569CD6"/>
                </a:solidFill>
                <a:latin typeface="Courier New"/>
              </a:rPr>
              <a:t>def get_by_barcode(bc):</a:t>
            </a:r>
          </a:p>
          <a:p>
            <a:r>
              <a:rPr sz="800">
                <a:solidFill>
                  <a:srgbClr val="569CD6"/>
                </a:solidFill>
                <a:latin typeface="Courier New"/>
              </a:rPr>
              <a:t>    return db.execute(</a:t>
            </a:r>
          </a:p>
          <a:p>
            <a:r>
              <a:rPr sz="800">
                <a:solidFill>
                  <a:srgbClr val="D4D4D4"/>
                </a:solidFill>
                <a:latin typeface="Courier New"/>
              </a:rPr>
              <a:t>        "SELECT * FROM product WHERE barcode=?", (bc,)</a:t>
            </a:r>
          </a:p>
          <a:p>
            <a:r>
              <a:rPr sz="800">
                <a:solidFill>
                  <a:srgbClr val="D4D4D4"/>
                </a:solidFill>
                <a:latin typeface="Courier New"/>
              </a:rPr>
              <a:t>    ).fetchone()</a:t>
            </a:r>
          </a:p>
          <a:p>
            <a:r>
              <a:rPr sz="8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00">
                <a:solidFill>
                  <a:srgbClr val="6A9955"/>
                </a:solidFill>
                <a:latin typeface="Courier New"/>
              </a:rPr>
              <a:t># fridge_service.py → NUR Logik, kein SQL, kein request</a:t>
            </a:r>
          </a:p>
          <a:p>
            <a:r>
              <a:rPr sz="800">
                <a:solidFill>
                  <a:srgbClr val="569CD6"/>
                </a:solidFill>
                <a:latin typeface="Courier New"/>
              </a:rPr>
              <a:t>def create_dashboard_item(query, user_id):</a:t>
            </a:r>
          </a:p>
          <a:p>
            <a:r>
              <a:rPr sz="800">
                <a:solidFill>
                  <a:srgbClr val="D4D4D4"/>
                </a:solidFill>
                <a:latin typeface="Courier New"/>
              </a:rPr>
              <a:t>    product = product_repo.get_by_barcode(query)</a:t>
            </a:r>
          </a:p>
          <a:p>
            <a:r>
              <a:rPr sz="800">
                <a:solidFill>
                  <a:srgbClr val="569CD6"/>
                </a:solidFill>
                <a:latin typeface="Courier New"/>
              </a:rPr>
              <a:t>    if not product:</a:t>
            </a:r>
          </a:p>
          <a:p>
            <a:r>
              <a:rPr sz="800">
                <a:solidFill>
                  <a:srgbClr val="D4D4D4"/>
                </a:solidFill>
                <a:latin typeface="Courier New"/>
              </a:rPr>
              <a:t>        product = off_client.lookup_product(query)</a:t>
            </a:r>
          </a:p>
          <a:p>
            <a:r>
              <a:rPr sz="800">
                <a:solidFill>
                  <a:srgbClr val="D4D4D4"/>
                </a:solidFill>
                <a:latin typeface="Courier New"/>
              </a:rPr>
              <a:t>        product_repo.create_product(**product)</a:t>
            </a:r>
          </a:p>
          <a:p>
            <a:r>
              <a:rPr sz="800">
                <a:solidFill>
                  <a:srgbClr val="569CD6"/>
                </a:solidFill>
                <a:latin typeface="Courier New"/>
              </a:rPr>
              <a:t>    return fridge_repo.add_item(product.id, user_id)</a:t>
            </a:r>
          </a:p>
          <a:p>
            <a:r>
              <a:rPr sz="8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00">
                <a:solidFill>
                  <a:srgbClr val="6A9955"/>
                </a:solidFill>
                <a:latin typeface="Courier New"/>
              </a:rPr>
              <a:t># routes.py → NUR HTTP: parsen + delegieren</a:t>
            </a:r>
          </a:p>
          <a:p>
            <a:r>
              <a:rPr sz="800">
                <a:solidFill>
                  <a:srgbClr val="D4D4D4"/>
                </a:solidFill>
                <a:latin typeface="Courier New"/>
              </a:rPr>
              <a:t>@bp.route("/fridge/add", methods=["POST"])</a:t>
            </a:r>
          </a:p>
          <a:p>
            <a:r>
              <a:rPr sz="800">
                <a:solidFill>
                  <a:srgbClr val="569CD6"/>
                </a:solidFill>
                <a:latin typeface="Courier New"/>
              </a:rPr>
              <a:t>def fridge_add():</a:t>
            </a:r>
          </a:p>
          <a:p>
            <a:r>
              <a:rPr sz="800">
                <a:solidFill>
                  <a:srgbClr val="D4D4D4"/>
                </a:solidFill>
                <a:latin typeface="Courier New"/>
              </a:rPr>
              <a:t>    q = request.form["query"]</a:t>
            </a:r>
          </a:p>
          <a:p>
            <a:r>
              <a:rPr sz="800">
                <a:solidFill>
                  <a:srgbClr val="D4D4D4"/>
                </a:solidFill>
                <a:latin typeface="Courier New"/>
              </a:rPr>
              <a:t>    item = fridge_service.create_dashboard_item(q, g.user_id)</a:t>
            </a:r>
          </a:p>
          <a:p>
            <a:r>
              <a:rPr sz="800">
                <a:solidFill>
                  <a:srgbClr val="569CD6"/>
                </a:solidFill>
                <a:latin typeface="Courier New"/>
              </a:rPr>
              <a:t>    return redirect(url_for("dashboard"))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611880"/>
            <a:ext cx="5760720" cy="1417320"/>
          </a:xfrm>
          <a:prstGeom prst="rect">
            <a:avLst/>
          </a:prstGeom>
          <a:solidFill>
            <a:srgbClr val="FFF5F5"/>
          </a:solidFill>
          <a:ln w="1016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User-Isolation — Sicherheitsprinzip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1032" y="3895344"/>
            <a:ext cx="5797296" cy="1152144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4005072"/>
            <a:ext cx="5577840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A9955"/>
                </a:solidFill>
                <a:latin typeface="Courier New"/>
              </a:rPr>
              <a:t># fridge_repo.py</a:t>
            </a:r>
          </a:p>
          <a:p>
            <a:r>
              <a:rPr sz="900">
                <a:solidFill>
                  <a:srgbClr val="569CD6"/>
                </a:solidFill>
                <a:latin typeface="Courier New"/>
              </a:rPr>
              <a:t>def get_item(item_id, user_id=None):</a:t>
            </a:r>
          </a:p>
          <a:p>
            <a:r>
              <a:rPr sz="900">
                <a:solidFill>
                  <a:srgbClr val="6A9955"/>
                </a:solidFill>
                <a:latin typeface="Courier New"/>
              </a:rPr>
              <a:t>    # WHERE id = ? AND (user_id = ? OR user_id IS NULL)</a:t>
            </a:r>
          </a:p>
          <a:p>
            <a:r>
              <a:rPr sz="900">
                <a:solidFill>
                  <a:srgbClr val="6A9955"/>
                </a:solidFill>
                <a:latin typeface="Courier New"/>
              </a:rPr>
              <a:t>    # → kein Nutzer sieht Daten eines anderen</a:t>
            </a:r>
          </a:p>
          <a:p>
            <a:r>
              <a:rPr sz="900">
                <a:solidFill>
                  <a:srgbClr val="6A9955"/>
                </a:solidFill>
                <a:latin typeface="Courier New"/>
              </a:rPr>
              <a:t>    # → NULL = Seed-Daten, für alle lesbar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5120640"/>
            <a:ext cx="5760720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1663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Schlüssel-Entscheidungen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46811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saved_recipe.title separat → Umbenennen ohne JSON-Blob-Parse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73328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UPSERT (ON CONFLICT … DO UPDATE) → kein separates SELECT → INSERT/UPDATE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99846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→ 39 Tests alle offline → Services/Repos per monkeypatch isoliert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Produkte hinzufügen — Drei Wege ins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Barcode · Suche · KI-Schätzung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7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3749039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3327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051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Barcode-Scanner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280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CC"/>
                </a:solidFill>
              </a:rPr>
              <a:t>barcode_scan.js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36192"/>
            <a:ext cx="3749039" cy="3383280"/>
          </a:xfrm>
          <a:prstGeom prst="rect">
            <a:avLst/>
          </a:prstGeom>
          <a:solidFill>
            <a:srgbClr val="E8F4FD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60020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BarcodeDetector API (nativ: Android, macOS Chrome/Safari)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03911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Fallback: zxing-wasm (WebAssembly für Firefox / Windows / iOS)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47802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enhanceContrast() — Graustufen + 1%-Clipping (gegen Überbelichtung)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291693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detectFrame() — nur mittleres Bildband (1D-Codes sind breit)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" y="4919472"/>
            <a:ext cx="3803904" cy="1362456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5029200"/>
            <a:ext cx="3584448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D4D4D4"/>
                </a:solidFill>
                <a:latin typeface="Courier New"/>
              </a:rPr>
              <a:t>startBarcodeScan(onResult)</a:t>
            </a:r>
          </a:p>
          <a:p>
            <a:r>
              <a:rPr sz="850">
                <a:solidFill>
                  <a:srgbClr val="4EC9B0"/>
                </a:solidFill>
                <a:latin typeface="Courier New"/>
              </a:rPr>
              <a:t>  → try BarcodeDetector</a:t>
            </a:r>
          </a:p>
          <a:p>
            <a:r>
              <a:rPr sz="850">
                <a:solidFill>
                  <a:srgbClr val="4EC9B0"/>
                </a:solidFill>
                <a:latin typeface="Courier New"/>
              </a:rPr>
              <a:t>  → catch: zxing-wasm fallback</a:t>
            </a:r>
          </a:p>
          <a:p>
            <a:r>
              <a:rPr sz="850">
                <a:solidFill>
                  <a:srgbClr val="4EC9B0"/>
                </a:solidFill>
                <a:latin typeface="Courier New"/>
              </a:rPr>
              <a:t>  → enhanceContrast(frame)</a:t>
            </a:r>
          </a:p>
          <a:p>
            <a:r>
              <a:rPr sz="850">
                <a:solidFill>
                  <a:srgbClr val="4EC9B0"/>
                </a:solidFill>
                <a:latin typeface="Courier New"/>
              </a:rPr>
              <a:t>  → detectFrame() — mittlere 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1005840"/>
            <a:ext cx="3749039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03327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1051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Textsuche (Name / Barcode)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1280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CC"/>
                </a:solidFill>
              </a:rPr>
              <a:t>unified_search() in routes.py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1536192"/>
            <a:ext cx="3749039" cy="3383280"/>
          </a:xfrm>
          <a:prstGeom prst="rect">
            <a:avLst/>
          </a:prstGeom>
          <a:solidFill>
            <a:srgbClr val="E8F4FD"/>
          </a:solidFill>
          <a:ln w="1016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60020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Drei Quellen parallel: lokale DB + OpenFoodFacts + KI-Schätzung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03911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Relevanz-Ranking: exakt=60, enthält=35, Teilwort=15 Pkt.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47802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Tiebreak nach Proteingehalt (Fitness-App-Kontext)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91693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Dedupliziert per Barcode — kein Doppeleintrag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42816" y="4919472"/>
            <a:ext cx="3803904" cy="1362456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5029200"/>
            <a:ext cx="3584448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69CD6"/>
                </a:solidFill>
                <a:latin typeface="Courier New"/>
              </a:rPr>
              <a:t>def _rank_off_products(results, query):</a:t>
            </a:r>
          </a:p>
          <a:p>
            <a:r>
              <a:rPr sz="850">
                <a:solidFill>
                  <a:srgbClr val="D4D4D4"/>
                </a:solidFill>
                <a:latin typeface="Courier New"/>
              </a:rPr>
              <a:t>  score = 0</a:t>
            </a:r>
          </a:p>
          <a:p>
            <a:r>
              <a:rPr sz="850">
                <a:solidFill>
                  <a:srgbClr val="569CD6"/>
                </a:solidFill>
                <a:latin typeface="Courier New"/>
              </a:rPr>
              <a:t>  if name == query: score += 60</a:t>
            </a:r>
          </a:p>
          <a:p>
            <a:r>
              <a:rPr sz="850">
                <a:solidFill>
                  <a:srgbClr val="569CD6"/>
                </a:solidFill>
                <a:latin typeface="Courier New"/>
              </a:rPr>
              <a:t>  elif query in name: score += 35</a:t>
            </a:r>
          </a:p>
          <a:p>
            <a:r>
              <a:rPr sz="850">
                <a:solidFill>
                  <a:srgbClr val="D4D4D4"/>
                </a:solidFill>
                <a:latin typeface="Courier New"/>
              </a:rPr>
              <a:t>  else: score += 15</a:t>
            </a:r>
          </a:p>
          <a:p>
            <a:r>
              <a:rPr sz="850">
                <a:solidFill>
                  <a:srgbClr val="D4D4D4"/>
                </a:solidFill>
                <a:latin typeface="Courier New"/>
              </a:rPr>
              <a:t>  score += min(protein/100g, 10)</a:t>
            </a:r>
          </a:p>
          <a:p>
            <a:r>
              <a:rPr sz="850">
                <a:solidFill>
                  <a:srgbClr val="569CD6"/>
                </a:solidFill>
                <a:latin typeface="Courier New"/>
              </a:rPr>
              <a:t>  return score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1005840"/>
            <a:ext cx="3749039" cy="50292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103327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3104" y="1051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KI-Nährwertschätzung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1280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CC"/>
                </a:solidFill>
              </a:rPr>
              <a:t>food_estimate.py — Verbindung zu LLMs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38744" y="1536192"/>
            <a:ext cx="3749039" cy="3383280"/>
          </a:xfrm>
          <a:prstGeom prst="rect">
            <a:avLst/>
          </a:prstGeom>
          <a:solidFill>
            <a:srgbClr val="E8F4FD"/>
          </a:solidFill>
          <a:ln w="1016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1" y="160020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Ollama JSON-Prompt: 'Schätze Nährwerte für: Schwarzwälder Kirschtorte'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203911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Ausgabe im exakt gleichen Format wie OpenFoodFacts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1" y="247802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Erscheint als erster Treffer 'KI-Schätzung' in der Suche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1" y="291693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Fehler → None (sauberes Degradieren, kein Crash)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2168" y="4919472"/>
            <a:ext cx="3803904" cy="1362456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5029200"/>
            <a:ext cx="3584448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D4D4D4"/>
                </a:solidFill>
                <a:latin typeface="Courier New"/>
              </a:rPr>
              <a:t>estimate_food("Schwarzwälder Kirschtorte")</a:t>
            </a:r>
          </a:p>
          <a:p>
            <a:r>
              <a:rPr sz="850">
                <a:solidFill>
                  <a:srgbClr val="4EC9B0"/>
                </a:solidFill>
                <a:latin typeface="Courier New"/>
              </a:rPr>
              <a:t>→ Ollama JSON-Prompt</a:t>
            </a:r>
          </a:p>
          <a:p>
            <a:r>
              <a:rPr sz="850">
                <a:solidFill>
                  <a:srgbClr val="4EC9B0"/>
                </a:solidFill>
                <a:latin typeface="Courier New"/>
              </a:rPr>
              <a:t>→ { kcal: 350, protein: 5,</a:t>
            </a:r>
          </a:p>
          <a:p>
            <a:r>
              <a:rPr sz="850">
                <a:solidFill>
                  <a:srgbClr val="D4D4D4"/>
                </a:solidFill>
                <a:latin typeface="Courier New"/>
              </a:rPr>
              <a:t>    fat: 18, carbs: 42 }</a:t>
            </a:r>
          </a:p>
          <a:p>
            <a:r>
              <a:rPr sz="850">
                <a:solidFill>
                  <a:srgbClr val="4EC9B0"/>
                </a:solidFill>
                <a:latin typeface="Courier New"/>
              </a:rPr>
              <a:t>→ gleiches Format wie OpenFoodFacts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6263640"/>
            <a:ext cx="11521440" cy="411480"/>
          </a:xfrm>
          <a:prstGeom prst="rect">
            <a:avLst/>
          </a:prstGeom>
          <a:solidFill>
            <a:srgbClr val="E8F0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2910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2B4A"/>
                </a:solidFill>
              </a:rPr>
              <a:t>Vorlesungs-Brücke (LLMs): estimate_food() nutzt das LLM als Wissensdatenbank — In-Context Learning: kein Fine-Tuning, nur ein präziser JSON-Prompt. Das ist genau das 'Prompting'-Paradigma aus der Vorlesung.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Mahlzeiten-Tracker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Warenkorb-Logik · Proportionale Skalierung · Kalender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8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394960" cy="3200400"/>
          </a:xfrm>
          <a:prstGeom prst="rect">
            <a:avLst/>
          </a:prstGeom>
          <a:solidFill>
            <a:srgbClr val="E8F4FD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Warenkorb-Logik (Session-basiert)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1206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447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Nutzer wählt Mahlzeit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56232"/>
            <a:ext cx="512064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836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Warenkorb in Session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95144"/>
            <a:ext cx="512064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225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commit_meal_cart() — atomar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34056"/>
            <a:ext cx="512064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614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Kühlschrank-Item: Menge abziehen + loggen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72968"/>
            <a:ext cx="5120640" cy="34747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00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Such-Item: loggen + Rest als neuer Kühlschrank-Eintrag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15968"/>
            <a:ext cx="5394960" cy="1920240"/>
          </a:xfrm>
          <a:prstGeom prst="rect">
            <a:avLst/>
          </a:prstGeom>
          <a:solidFill>
            <a:srgbClr val="F5F5FF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61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Proportionale Skalierung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599432"/>
            <a:ext cx="5431536" cy="1563624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521208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A9955"/>
                </a:solidFill>
                <a:latin typeface="Courier New"/>
              </a:rPr>
              <a:t># meal_tracker_repo.py</a:t>
            </a:r>
          </a:p>
          <a:p>
            <a:r>
              <a:rPr sz="900">
                <a:solidFill>
                  <a:srgbClr val="569CD6"/>
                </a:solidFill>
                <a:latin typeface="Courier New"/>
              </a:rPr>
              <a:t>def update_meal_entry_amount(id, uid, new_amount):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factor = new_amount / old_amount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UPDATE SET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kcal = kcal * factor,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protein_g = protein_g * factor,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carbs_g  = carbs_g  * factor,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fat_g    = fat_g    * factor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005840"/>
            <a:ext cx="5760720" cy="3200400"/>
          </a:xfrm>
          <a:prstGeom prst="rect">
            <a:avLst/>
          </a:prstGeom>
          <a:solidFill>
            <a:srgbClr val="F5FFF5"/>
          </a:solidFill>
          <a:ln w="1016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Kalender-Integration &amp; Tagesübersicht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1417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calendar.monthrange (Python-Stdlib) → Monatsraster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18562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get_tracked_days() via SQLite strftime(…, 'localtime') → markierte 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22951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Klick auf Vergangenheitstag → historische Einträge laden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273405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get_day_totals() mit SUM + COALESCE → leere Tage liefern 0, nicht NULL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31729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normalize_macro_pct() → Protein + Carbs + Fett = immer genau 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36118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Tagessummen als Fortschrittsbalken gegen das konfigurierte Ziel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4315968"/>
            <a:ext cx="5760720" cy="1920240"/>
          </a:xfrm>
          <a:prstGeom prst="rect">
            <a:avLst/>
          </a:prstGeom>
          <a:solidFill>
            <a:srgbClr val="E8F4FD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3616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Konfigurierbare Tagesziele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4709160"/>
            <a:ext cx="1828800" cy="301752"/>
          </a:xfrm>
          <a:prstGeom prst="rect">
            <a:avLst/>
          </a:prstGeom>
          <a:solidFill>
            <a:srgbClr val="1A2B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3912" y="47457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Setting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36992" y="4709160"/>
            <a:ext cx="1097280" cy="301752"/>
          </a:xfrm>
          <a:prstGeom prst="rect">
            <a:avLst/>
          </a:prstGeom>
          <a:solidFill>
            <a:srgbClr val="1A2B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2712" y="4745736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34272" y="4709160"/>
            <a:ext cx="2651760" cy="301752"/>
          </a:xfrm>
          <a:prstGeom prst="rect">
            <a:avLst/>
          </a:prstGeom>
          <a:solidFill>
            <a:srgbClr val="1A2B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9992" y="47457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5010912"/>
            <a:ext cx="182880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3912" y="50383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daily_kcal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36992" y="5010912"/>
            <a:ext cx="109728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82712" y="5038344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2000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34272" y="5010912"/>
            <a:ext cx="265176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9992" y="50383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Kalorienziel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5312664"/>
            <a:ext cx="18288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53912" y="53400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protein_pct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36992" y="5312664"/>
            <a:ext cx="10972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82712" y="5340096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30%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34272" y="5312664"/>
            <a:ext cx="26517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9992" y="53400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Anteil Protein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5614416"/>
            <a:ext cx="182880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53912" y="56418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carbs_pct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36992" y="5614416"/>
            <a:ext cx="109728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82712" y="5641848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40%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34272" y="5614416"/>
            <a:ext cx="265176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79992" y="56418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Anteil Kohlenhydrate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5916168"/>
            <a:ext cx="18288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53912" y="59436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fat_pct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36992" y="5916168"/>
            <a:ext cx="10972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82712" y="594360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30%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34272" y="5916168"/>
            <a:ext cx="26517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79992" y="5943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Anteil Fett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Teil B — ASAAI: Die KI-Schicht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Wo klassisches Web-Engineering endet und die Vorlesung beginnt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9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325880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247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① Nutzer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1234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klickt
Freestyle-Rezept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0876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6504" y="1097280"/>
            <a:ext cx="132588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2224" y="11247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② Kühlschrank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2224" y="1417320"/>
            <a:ext cx="1234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aus DB laden
(RAG: Retrieval)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150876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1097280"/>
            <a:ext cx="1325880" cy="100584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11247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③ Prompt bauen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1417320"/>
            <a:ext cx="1234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Kühlschrank
injizieren (RAG: Aug.)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150876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90872" y="1097280"/>
            <a:ext cx="1325880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11247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④ Ollama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1417320"/>
            <a:ext cx="1234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Rezept als JSON
generieren (Generation)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150876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1097280"/>
            <a:ext cx="1325880" cy="10058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8776" y="11247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⑤ Validierung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1417320"/>
            <a:ext cx="1234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8 Checks +
MAKro-Berechnung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150876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1097280"/>
            <a:ext cx="132588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11247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⑥ Reparatur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1417320"/>
            <a:ext cx="1234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MAPE-K
Koordinatenabstieg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150876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07424" y="1097280"/>
            <a:ext cx="132588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53144" y="11247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⑦ Anzeige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4" y="1417320"/>
            <a:ext cx="1234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JSON → Browser
(Phase 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3304" y="150876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79608" y="1097280"/>
            <a:ext cx="1325880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25328" y="11247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⑧ Phase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5328" y="1417320"/>
            <a:ext cx="1234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2 weitere
im Hintergrund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286000"/>
            <a:ext cx="3749039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31343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freestyle_recipe.py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2523744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C518"/>
                </a:solidFill>
              </a:rPr>
              <a:t>Orchestrierung &amp; Agentic Loop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697480"/>
            <a:ext cx="3749039" cy="2194560"/>
          </a:xfrm>
          <a:prstGeom prst="rect">
            <a:avLst/>
          </a:prstGeom>
          <a:solidFill>
            <a:srgbClr val="E8F4FD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76148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build_prompt() — RAG-Prompt-Builder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255264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_macro_strategy_hint() — Content-Based Filtering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749039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_run() — Retry-Schleife mit Stop-Condition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24281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generate_freestyle_recipes() — öffentliche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2286000"/>
            <a:ext cx="3749039" cy="4114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0" y="231343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freestyle_recipe_support.py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2523744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C518"/>
                </a:solidFill>
              </a:rPr>
              <a:t>Validierung, Makros &amp; MAPE-K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2697480"/>
            <a:ext cx="3749039" cy="2194560"/>
          </a:xfrm>
          <a:prstGeom prst="rect">
            <a:avLst/>
          </a:prstGeom>
          <a:solidFill>
            <a:srgbClr val="E8F4FD"/>
          </a:solidFill>
          <a:ln w="1016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276148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computed_macros() — MAPE-K Monitor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3255264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macros_within_targets() — MAPE-K Analyze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4840" y="3749039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_fit_amounts() — MAPE-K Plan (Koordinatenabstieg)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424281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valid_recipes() + validation_feedback()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2286000"/>
            <a:ext cx="3749039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231343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ollama_client.py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523744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C518"/>
                </a:solidFill>
              </a:rPr>
              <a:t>HTTP-Client zu Ollama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2697480"/>
            <a:ext cx="3749039" cy="2194560"/>
          </a:xfrm>
          <a:prstGeom prst="rect">
            <a:avLst/>
          </a:prstGeom>
          <a:solidFill>
            <a:srgbClr val="E8F4FD"/>
          </a:solidFill>
          <a:ln w="1016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60" y="276148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generate_from_ollama(prompt, format='json')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3255264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resolve_ollama_model() — 4-Ebenen-Priorisierung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3749039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test_ollama_model() — Verfügbarkeits-Check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424281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▶ 3 wählbare Modelle: qwen3.5 / qwen3 / gemma3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029200"/>
            <a:ext cx="11430000" cy="1600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074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Vorlesungs-Konzepte im ASAAI-Modul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5394960"/>
            <a:ext cx="777240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9496" y="541324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LLMs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687568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JSON-Prompt-Modus, ollama_client.generate_from_ollama()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70632" y="5394960"/>
            <a:ext cx="777240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07208" y="541324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70632" y="5687568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Kühlschrank-DB → Prompt injiziert → Rezept generiert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38344" y="5394960"/>
            <a:ext cx="777240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74920" y="541324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Agentic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38344" y="5687568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Retry-Loop mit Feedback: _run() in freestyle_recipe.py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06055" y="5394960"/>
            <a:ext cx="777240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42631" y="541324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Recommender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06055" y="5687568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Content-Based: _macro_strategy_hint() filtert nach Nährstoffdichte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73768" y="5394960"/>
            <a:ext cx="777240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10344" y="5413248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MAPE-K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73768" y="5687568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computed_macros → macros_within_targets → _fit_amounts → setzen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— 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Kühlschrank-Kontext wird zur Laufzeit in den Prompt injiziert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10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1430000" cy="685800"/>
          </a:xfrm>
          <a:prstGeom prst="rect">
            <a:avLst/>
          </a:prstGeom>
          <a:solidFill>
            <a:srgbClr val="E8F0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1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Vorlesungs-Definition: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</a:rPr>
              <a:t>RAG = Retrieval + Augmentation + Generation. Statt dem LLM alles aus dem Training-Gedächtnis abzufragen, wird externer Kontext abgerufen (R), in den Prompt eingebettet (A), und das LLM generiert auf Basis dieses Kontexts (G).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352044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56231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  Retrieval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203703"/>
            <a:ext cx="3584448" cy="1069848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313432"/>
            <a:ext cx="3364992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4D4D4"/>
                </a:solidFill>
                <a:latin typeface="Courier New"/>
              </a:rPr>
              <a:t>fridge_repo.list_items(user_id)</a:t>
            </a:r>
          </a:p>
          <a:p>
            <a:r>
              <a:rPr sz="900">
                <a:solidFill>
                  <a:srgbClr val="4EC9B0"/>
                </a:solidFill>
                <a:latin typeface="Courier New"/>
              </a:rPr>
              <a:t>→ JOIN fridge_item × product</a:t>
            </a:r>
          </a:p>
          <a:p>
            <a:r>
              <a:rPr sz="900">
                <a:solidFill>
                  <a:srgbClr val="4EC9B0"/>
                </a:solidFill>
                <a:latin typeface="Courier New"/>
              </a:rPr>
              <a:t>→ echte Nährwerte aus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828800"/>
            <a:ext cx="3520440" cy="41148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856231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  Augmentation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5384" y="2203703"/>
            <a:ext cx="3584448" cy="1069848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2313432"/>
            <a:ext cx="3364992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4D4D4"/>
                </a:solidFill>
                <a:latin typeface="Courier New"/>
              </a:rPr>
              <a:t>build_prompt(fridge, goal, cat)</a:t>
            </a:r>
          </a:p>
          <a:p>
            <a:r>
              <a:rPr sz="900">
                <a:solidFill>
                  <a:srgbClr val="4EC9B0"/>
                </a:solidFill>
                <a:latin typeface="Courier New"/>
              </a:rPr>
              <a:t>→ Zutaten als Kontext-Block</a:t>
            </a:r>
          </a:p>
          <a:p>
            <a:r>
              <a:rPr sz="900">
                <a:solidFill>
                  <a:srgbClr val="4EC9B0"/>
                </a:solidFill>
                <a:latin typeface="Courier New"/>
              </a:rPr>
              <a:t>→ in Prompt eingebettet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352044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856231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  Generation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4" y="2203703"/>
            <a:ext cx="3584448" cy="1069848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2313432"/>
            <a:ext cx="3364992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4D4D4"/>
                </a:solidFill>
                <a:latin typeface="Courier New"/>
              </a:rPr>
              <a:t>generate_from_ollama(prompt)</a:t>
            </a:r>
          </a:p>
          <a:p>
            <a:r>
              <a:rPr sz="900">
                <a:solidFill>
                  <a:srgbClr val="4EC9B0"/>
                </a:solidFill>
                <a:latin typeface="Courier New"/>
              </a:rPr>
              <a:t>→ LLM generiert Rezept</a:t>
            </a:r>
          </a:p>
          <a:p>
            <a:r>
              <a:rPr sz="900">
                <a:solidFill>
                  <a:srgbClr val="4EC9B0"/>
                </a:solidFill>
                <a:latin typeface="Courier New"/>
              </a:rPr>
              <a:t>→ NUR aus diesen Zutaten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91840"/>
            <a:ext cx="11430000" cy="3337560"/>
          </a:xfrm>
          <a:prstGeom prst="rect">
            <a:avLst/>
          </a:prstGeom>
          <a:solidFill>
            <a:srgbClr val="181818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284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CCFF"/>
                </a:solidFill>
              </a:rPr>
              <a:t>Konkreter Prompt-Ausschnitt — build_prompt() in freestyle_recipe.py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" y="3520440"/>
            <a:ext cx="11539728" cy="3118104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630168"/>
            <a:ext cx="11320272" cy="2852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D4D4D4"/>
                </a:solidFill>
                <a:latin typeface="Courier New"/>
              </a:rPr>
              <a:t>Du bist ein Ernährungsexperte. Erstelle ein Hauptgericht-Rezept AUS DIESEN ZUTATEN:</a:t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>Verfügbare Kühlschrank-Zutaten:</a:t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>  1. Hähnchenbrust (id=3):  300g verfügbar | 165 kcal, 31g P, 0g C, 4g F je 100g</a:t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>  2. Reis, weiß  (id=7):   500g verfügbar | 130 kcal,  2g P, 28g C, 0g F je 100g</a:t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>  3. Paprika, rot (id=12): 200g verfügbar |  31 kcal,  1g P,  6g C, 0g F je 100g</a:t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>  4. Olivenöl   (id=15):   100g verfügbar | 884 kcal,  0g P,  0g C, 100g F je 100g</a:t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>TAGESZIEL: 700 kcal | 50g Protein | 65g Kohlenhydrate | 22g Fett</a:t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>STRATEGIE: Hauptproteinquelle: Hähnchenbrust (200–300g, 31g P/100g). Öl ≤ 20g.</a:t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80">
                <a:solidFill>
                  <a:srgbClr val="D4D4D4"/>
                </a:solidFill>
                <a:latin typeface="Courier New"/>
              </a:rPr>
              <a:t>Antworte NUR als JSON-Array: [{"title": "...", "fridge_ingredients": [...], "instructions": [...], ...}]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656832"/>
            <a:ext cx="11430000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5683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Ohne RAG: LLM schlägt Rezepte mit Zutaten vor, die nicht im Kühlschrank sind. Mit RAG: das Modell ist auf den echten Bestand beschränkt.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Agentic Systems — Die Retry-Schleife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Prompt → Validierung → Feedback → Retry → Stop-Condition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11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solidFill>
            <a:srgbClr val="E8F0FF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1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Vorlesungs-Definition: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</a:rPr>
              <a:t>Agentic Systems gehen über einfaches Prompt→Response hinaus: Tool Calling, Chain of Thought, Retry-Mechanismen, Stop-Conditions.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581912"/>
            <a:ext cx="6711696" cy="3419856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91640"/>
            <a:ext cx="649224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69">
                <a:solidFill>
                  <a:srgbClr val="6A9955"/>
                </a:solidFill>
                <a:latin typeface="Courier New"/>
              </a:rPr>
              <a:t># freestyle_recipe.py — _run()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def _run(prompt, fridge_items, daily_goal, count, exclude=None):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recipes_so_far = []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exclude = list(exclude or [])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for attempt in range(count + 1):          # Retry-Schleife (max count+1)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    response = generate_from_ollama(prompt, temperature=0.15 if attempt==0 else 0.7)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4EC9B0"/>
                </a:solidFill>
                <a:latin typeface="Courier New"/>
              </a:rPr>
              <a:t>        new_valid = valid_recipes(            # Validierung → 8 Checks + MAPE-K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    response, fridge_items, daily_goal, count=count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recipes_so_far.extend(new_valid)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    if len(recipes_so_far) &gt;= count:      # ← Stop-Condition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    break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6A9955"/>
                </a:solidFill>
                <a:latin typeface="Courier New"/>
              </a:rPr>
              <a:t>        # Feedback für nächsten Versuch aufbauen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feedback = validation_feedback(recipes_so_far, needed=count)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    exclude += [r["title"] for r in recipes_so_far]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prompt = rebuild_prompt(prompt, feedback=feedback, exclude=exclude)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return recipes_so_far[:count]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691640"/>
            <a:ext cx="4663440" cy="3154680"/>
          </a:xfrm>
          <a:prstGeom prst="rect">
            <a:avLst/>
          </a:prstGeom>
          <a:solidFill>
            <a:srgbClr val="E8F4FD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737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Die 3 Agentic-Elemente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121408"/>
            <a:ext cx="45720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6328" y="2286000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12140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Tool Calling analog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395727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valid_recipes() liefert strukturiertes Feedback — nicht nur True/False — an den Agenten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3008376"/>
            <a:ext cx="45720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6328" y="3172968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0083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Feedback-Loop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28269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validation_feedback() formuliert konkreten Text, der in den nächsten Prompt eingeht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3895344"/>
            <a:ext cx="457200" cy="6583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96328" y="4059935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8953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Stop-Condition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169663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Schleife endet sobald genug valide Rezepte vorhanden sind (oder count+1 Versuche)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83480"/>
            <a:ext cx="11430000" cy="1051560"/>
          </a:xfrm>
          <a:prstGeom prst="rect">
            <a:avLst/>
          </a:prstGeom>
          <a:solidFill>
            <a:srgbClr val="181818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109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CCFF"/>
                </a:solidFill>
              </a:rPr>
              <a:t>Feedback-Beispiel: validation_feedback() → geht in nächsten Prompt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" y="5175504"/>
            <a:ext cx="11539728" cy="923544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285232"/>
            <a:ext cx="1132027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4D4D4"/>
                </a:solidFill>
                <a:latin typeface="Courier New"/>
              </a:rPr>
              <a:t>Das Rezept 'Hähnchen-Bowl mit Thunfisch' wurde abgelehnt wegen:</a:t>
            </a:r>
          </a:p>
          <a:p>
            <a:r>
              <a:rPr sz="900">
                <a:solidFill>
                  <a:srgbClr val="4EC9B0"/>
                </a:solidFill>
                <a:latin typeface="Courier New"/>
              </a:rPr>
              <a:t>  → Doppelte Proteinquelle erkannt: Hähnchenbrust + Thunfisch. Bitte nur eine Hauptproteinquelle verwenden.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Bereits gesehen (nicht wiederholen): ['Hähnchen-Bowl mit Thunfisch']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Bitte ein anderes Rezept mit exakt diesen Zutaten-IDs vorschlagen.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144768"/>
            <a:ext cx="11430000" cy="548640"/>
          </a:xfrm>
          <a:prstGeom prst="rect">
            <a:avLst/>
          </a:prstGeom>
          <a:solidFill>
            <a:srgbClr val="F0FFF0"/>
          </a:solidFill>
          <a:ln w="1016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1722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Ergebnis der Retry-Schleife: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825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Ohne Retry: ~30% invalide Rezepte (falsche IDs, Doppel-Protein, unrealistische Mengen). Mit Retry-Schleife: &gt;95% valide Rezepte beim ersten Nutzer-Request.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Recommender Systems — Content-Based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_macro_strategy_hint() · OpenFoodFacts-Ranking · Two-Tower-Analogie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12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1430000" cy="502920"/>
          </a:xfrm>
          <a:prstGeom prst="rect">
            <a:avLst/>
          </a:prstGeom>
          <a:solidFill>
            <a:srgbClr val="E8F0FF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1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Vorlesungs-Definition: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4358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</a:rPr>
              <a:t>Content-Based Filtering empfiehlt Items anhand ihrer Eigenschaften — ohne andere Nutzer-Daten. Two-Tower: User-Profil (Tower 1) × Item-Eigenschaften (Tower 2) → Match-Score.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5486400" cy="2743200"/>
          </a:xfrm>
          <a:prstGeom prst="rect">
            <a:avLst/>
          </a:prstGeom>
          <a:solidFill>
            <a:srgbClr val="F5FFF5"/>
          </a:solidFill>
          <a:ln w="1016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Ebene 1: _macro_strategy_hint()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" y="1883664"/>
            <a:ext cx="5568696" cy="2505456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93392"/>
            <a:ext cx="534924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A9955"/>
                </a:solidFill>
                <a:latin typeface="Courier New"/>
              </a:rPr>
              <a:t># freestyle_recipe.py</a:t>
            </a:r>
          </a:p>
          <a:p>
            <a:r>
              <a:rPr sz="850">
                <a:solidFill>
                  <a:srgbClr val="569CD6"/>
                </a:solidFill>
                <a:latin typeface="Courier New"/>
              </a:rPr>
              <a:t>def _macro_strategy_hint(fridge_items, daily_goal):</a:t>
            </a:r>
          </a:p>
          <a:p>
            <a:r>
              <a:rPr sz="850">
                <a:solidFill>
                  <a:srgbClr val="569CD6"/>
                </a:solidFill>
                <a:latin typeface="Courier New"/>
              </a:rPr>
              <a:t>    if protein_target &gt;= 50:</a:t>
            </a:r>
          </a:p>
          <a:p>
            <a:r>
              <a:rPr sz="850">
                <a:solidFill>
                  <a:srgbClr val="D4D4D4"/>
                </a:solidFill>
                <a:latin typeface="Courier New"/>
              </a:rPr>
              <a:t>        hint += f"Hauptproteinquelle: {best_protein.name}</a:t>
            </a:r>
          </a:p>
          <a:p>
            <a:r>
              <a:rPr sz="850">
                <a:solidFill>
                  <a:srgbClr val="D4D4D4"/>
                </a:solidFill>
                <a:latin typeface="Courier New"/>
              </a:rPr>
              <a:t>                  ({best_protein.protein}g P/100g). 200–300g verwenden."</a:t>
            </a:r>
          </a:p>
          <a:p>
            <a:r>
              <a:rPr sz="850">
                <a:solidFill>
                  <a:srgbClr val="569CD6"/>
                </a:solidFill>
                <a:latin typeface="Courier New"/>
              </a:rPr>
              <a:t>    if carbs_target &lt; 50:  # Low-Carb</a:t>
            </a:r>
          </a:p>
          <a:p>
            <a:r>
              <a:rPr sz="850">
                <a:solidFill>
                  <a:srgbClr val="D4D4D4"/>
                </a:solidFill>
                <a:latin typeface="Courier New"/>
              </a:rPr>
              <a:t>        hint += "Stärke (Reis, Nudeln) stark reduzieren. Fett erhöhen."</a:t>
            </a:r>
          </a:p>
          <a:p>
            <a:r>
              <a:rPr sz="850">
                <a:solidFill>
                  <a:srgbClr val="569CD6"/>
                </a:solidFill>
                <a:latin typeface="Courier New"/>
              </a:rPr>
              <a:t>    if category == "Süßspeise":</a:t>
            </a:r>
          </a:p>
          <a:p>
            <a:r>
              <a:rPr sz="850">
                <a:solidFill>
                  <a:srgbClr val="D4D4D4"/>
                </a:solidFill>
                <a:latin typeface="Courier New"/>
              </a:rPr>
              <a:t>        hint += "Kein Fleisch/Fisch. Süßungsmittel, Obst bevorzugen."</a:t>
            </a:r>
          </a:p>
          <a:p>
            <a:r>
              <a:rPr sz="850">
                <a:solidFill>
                  <a:srgbClr val="6A9955"/>
                </a:solidFill>
                <a:latin typeface="Courier New"/>
              </a:rPr>
              <a:t>    # → dieser Hint wird in den Prompt eingebettet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5486400" cy="2743200"/>
          </a:xfrm>
          <a:prstGeom prst="rect">
            <a:avLst/>
          </a:prstGeom>
          <a:solidFill>
            <a:srgbClr val="E8F4FD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916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Ebene 2: Two-Tower-Analogie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029968"/>
            <a:ext cx="2194560" cy="1783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057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 Tower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40864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Nutzer-Tagesziel:
{
  daily_kcal: 2200
  protein_pct: 30%
  carbs_pct: 40%
  fat_pct: 30%
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2029968"/>
            <a:ext cx="2194560" cy="17830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057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Item Tower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340864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Rezept-Makros:
{
  kcal: 650
  protein: 48g
  carbs: 60g
  fat: 20g
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4A"/>
                </a:solidFill>
              </a:rPr>
              <a:t>→
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8587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macros_within_targets(computed, daily_goal)
→ arithmetische Toleranz-Funktion = Match-Score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26280"/>
            <a:ext cx="11430000" cy="1417320"/>
          </a:xfrm>
          <a:prstGeom prst="rect">
            <a:avLst/>
          </a:prstGeom>
          <a:solidFill>
            <a:srgbClr val="FFFDF0"/>
          </a:solidFill>
          <a:ln w="1016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720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OpenFoodFacts Relevanz-Ranking — klassisches Content-Based Filtering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" y="4782312"/>
            <a:ext cx="11539728" cy="1207008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892040"/>
            <a:ext cx="11320272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69CD6"/>
                </a:solidFill>
                <a:latin typeface="Courier New"/>
              </a:rPr>
              <a:t>def _rank_off_products(results, query):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score = 0</a:t>
            </a:r>
          </a:p>
          <a:p>
            <a:r>
              <a:rPr sz="900">
                <a:solidFill>
                  <a:srgbClr val="569CD6"/>
                </a:solidFill>
                <a:latin typeface="Courier New"/>
              </a:rPr>
              <a:t>    if name == query:     score += 60    # exakte Übereinstimmung</a:t>
            </a:r>
          </a:p>
          <a:p>
            <a:r>
              <a:rPr sz="900">
                <a:solidFill>
                  <a:srgbClr val="569CD6"/>
                </a:solidFill>
                <a:latin typeface="Courier New"/>
              </a:rPr>
              <a:t>    elif query in name:   score += 35    # enthält Suchbegriff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else:                 score += 15    # Teilwort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score += min(protein_per_100g, 10)   # Tiebreak: mehr Protein = relevanter für Fitness-App</a:t>
            </a:r>
          </a:p>
          <a:p>
            <a:r>
              <a:rPr sz="900">
                <a:solidFill>
                  <a:srgbClr val="569CD6"/>
                </a:solidFill>
                <a:latin typeface="Courier New"/>
              </a:rPr>
              <a:t>    return score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053328"/>
            <a:ext cx="11430000" cy="566928"/>
          </a:xfrm>
          <a:prstGeom prst="rect">
            <a:avLst/>
          </a:prstGeom>
          <a:solidFill>
            <a:srgbClr val="E8F0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080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2B4A"/>
                </a:solidFill>
              </a:rPr>
              <a:t>Kein Nutzerverhalten, keine kollaborativen Daten — nur Produkt-Eigenschaften. Das ist die Definition von Content-Based Filtering. Die konzeptuelle Struktur (Profil × Item-Properties → Score → Filter) entspricht direkt dem Vorlesungsmodell.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Adaptive Systems — MAPE-K &amp; Koordinatenabstieg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computed_macros → macros_within_targets → _fit_amounts → setzen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13 / 18</a:t>
            </a:r>
          </a:p>
        </p:txBody>
      </p:sp>
      <p:pic>
        <p:nvPicPr>
          <p:cNvPr id="8" name="Picture 7" descr="FitFridge_Sequ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60920" y="1005840"/>
            <a:ext cx="4572000" cy="5394960"/>
          </a:xfrm>
          <a:prstGeom prst="rect">
            <a:avLst/>
          </a:prstGeom>
          <a:solidFill>
            <a:srgbClr val="F5F5FF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051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</a:rPr>
              <a:t>MAPE-K Mapping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444752"/>
            <a:ext cx="731520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581912"/>
            <a:ext cx="6949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4447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</a:rPr>
              <a:t>computed_macros(recipe, fridge_items)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7190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Kcal/P/F/C aus Gramm × /100g. LLM-Zahlen werden ignoriert.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377440"/>
            <a:ext cx="731520" cy="6400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514600"/>
            <a:ext cx="6949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774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</a:rPr>
              <a:t>macros_within_targets(computed, goal)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Soll-Ist-Vergleich: kcal ≤+10%, Protein≥Ziel, Fett/Carbs±Toleranz.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310128"/>
            <a:ext cx="731520" cy="64008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3447288"/>
            <a:ext cx="6949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3101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</a:rPr>
              <a:t>_fit_amounts() — Koordinatenabstieg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584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Pro Makro: Hebel-Zutat mit höchster Dichte. Benötigte Grammmenge algebraisch.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4242816"/>
            <a:ext cx="731520" cy="6400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4379976"/>
            <a:ext cx="6949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24281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</a:rPr>
              <a:t>_set_fridge_amounts() / _scale_fridge_amounts()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51713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Gramm-Mengen anpassen, Labels neu berechnen, Fallback: Gesamt-Skalierung.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5175504"/>
            <a:ext cx="731520" cy="6400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5312664"/>
            <a:ext cx="6949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1755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</a:rPr>
              <a:t>PROTEIN, STARCH, SWEET, MACRO_TOLERANCES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44982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Domain-Wissen: Lebensmittelkategorien, Toleranzwerte — pflegen wenn neue Zutaten kommen.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Koordinatenabstieg — _fit_amounts() im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Warum einfaches Skalieren nicht reicht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14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029200" cy="2011680"/>
          </a:xfrm>
          <a:prstGeom prst="rect">
            <a:avLst/>
          </a:prstGeom>
          <a:solidFill>
            <a:srgbClr val="FFF0F0"/>
          </a:solidFill>
          <a:ln w="1016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030"/>
                </a:solidFill>
              </a:rPr>
              <a:t>❌ Einfaches Skalieren — versagt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LLM generiert: 400g Reis + 100g Hähnchen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556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Protein-Ziel: 60g  →  Hähnchen: 31g P/100g → braucht 194g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39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Skalieren × Faktor: auch Reis wird erhöht → Carbs verletzt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237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Struktureller Fehler: Protein-Hebel muss SELEKTIV hoch, Stärke runter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005840"/>
            <a:ext cx="6126480" cy="2011680"/>
          </a:xfrm>
          <a:prstGeom prst="rect">
            <a:avLst/>
          </a:prstGeom>
          <a:solidFill>
            <a:srgbClr val="F0FFF0"/>
          </a:solidFill>
          <a:ln w="1016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033271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A745"/>
                </a:solidFill>
              </a:rPr>
              <a:t>✅ Koordinatenabstieg — selektiv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3716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✦ Protein-Hebel = max(zutaten, key=protein_per_100g) → Hähnchenbrust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75564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✦ Carb-Hebel   = max(zutaten, key=carbs_per_100g)   → Reis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139696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✦ Fett-Hebel   = max(zutaten, key=fat_per_100g)     → Olivenöl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523744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✦ Jeder Hebel wird algebraisch auf Zielwert gesetzt, andere bleiben stabil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3044952"/>
            <a:ext cx="11649456" cy="3602735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54680"/>
            <a:ext cx="1143000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69">
                <a:solidFill>
                  <a:srgbClr val="6A9955"/>
                </a:solidFill>
                <a:latin typeface="Courier New"/>
              </a:rPr>
              <a:t># freestyle_recipe_support.py — _fit_amounts()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def _fit_amounts(recipe, fridge_items, daily_goal):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ingr = recipe["fridge_ingredients"]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6A9955"/>
                </a:solidFill>
                <a:latin typeface="Courier New"/>
              </a:rPr>
              <a:t>    # Schritt 1: Hebel-Zutaten identifizieren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protein_lever = max(ingr, key=lambda i: fridge_items[i['id']]['protein_per_100g'])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carb_lever    = max(ingr, key=lambda i: fridge_items[i['id']]['carbs_per_100g'])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fat_lever     = max(ingr, key=lambda i: fridge_items[i['id']]['fat_per_100g'])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6A9955"/>
                </a:solidFill>
                <a:latin typeface="Courier New"/>
              </a:rPr>
              <a:t>    # Schritt 2: Protein-Hebel algebraisch setzen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other_protein = sum(i['amount_g'] * fridge_items[i['id']]['protein_per_100g'] / 100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                    for i in ingr if i != protein_lever)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protein_needed_g = (target_protein - other_protein) / (lever_protein / 100)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6A9955"/>
                </a:solidFill>
                <a:latin typeface="Courier New"/>
              </a:rPr>
              <a:t>    # Schritt 3: Klemmen auf valide Grenzen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protein_needed_g = max(0, min(protein_needed_g, 1200))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if is_supplement(protein_lever): protein_needed_g = min(80, protein_needed_g)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6A9955"/>
                </a:solidFill>
                <a:latin typeface="Courier New"/>
              </a:rPr>
              <a:t>    # Schritt 4: Menge setzen, Makros neu berechnen, prüfen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protein_lever['amount_g'] = round(protein_needed_g)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if macros_within_targets(computed_macros(recipe), daily_goal):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    return recipe  # ← Erfolg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6A9955"/>
                </a:solidFill>
                <a:latin typeface="Courier New"/>
              </a:rPr>
              <a:t>    # Fallback: Gesamt-Skalierung auf kcal-Ziel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return _scale_fridge_amounts(recipe, target_kcal)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601968"/>
            <a:ext cx="11430000" cy="182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1111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5C518"/>
                </a:solidFill>
              </a:rPr>
              <a:t>Drei Adaptivitätstypen (Vorlesung): Kontextbasiert (Prompt ändert sich je Kühlschrank) · Nutzerbasiert (Reparatur zielt auf individuelles Ziel) · Systemzentrisch (Retry ohne Nutzereingriff)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Die Validierungs-Pipeline — 8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Ohne Validierung liefert das LLM ~30% Unsinn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15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5577840" cy="987552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502920" cy="9875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5" y="1307592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0972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Zutaten-IDs valid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99031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Nur echte fridge_item-IDs erlaubt — LLM erfindet manchmal id=99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051560"/>
            <a:ext cx="5577840" cy="987552"/>
          </a:xfrm>
          <a:prstGeom prst="rect">
            <a:avLst/>
          </a:prstGeom>
          <a:solidFill>
            <a:srgbClr val="E8F4FD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1051560"/>
            <a:ext cx="502920" cy="9875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1307592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0972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Portionsgrößen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399031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 &lt; gramm ≤ 1200g. LLM-Fehler: 5000g Hähnchen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67128"/>
            <a:ext cx="5577840" cy="987552"/>
          </a:xfrm>
          <a:prstGeom prst="rect">
            <a:avLst/>
          </a:prstGeom>
          <a:solidFill>
            <a:srgbClr val="E8F4FD"/>
          </a:solidFill>
          <a:ln w="1270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167128"/>
            <a:ext cx="502920" cy="9875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5" y="2423160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2128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Supplement-Limit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51460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Whey-Protein / Proteinpulver ≤ 80g pro Rezept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2167128"/>
            <a:ext cx="5577840" cy="987552"/>
          </a:xfrm>
          <a:prstGeom prst="rect">
            <a:avLst/>
          </a:prstGeom>
          <a:solidFill>
            <a:srgbClr val="E8F4F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2167128"/>
            <a:ext cx="502920" cy="9875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5" y="2423160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2128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Pantry-Limits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51460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Öl ≤ 50g, Salz ≤ 10g — sonst ungenießbar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282696"/>
            <a:ext cx="5577840" cy="987552"/>
          </a:xfrm>
          <a:prstGeom prst="rect">
            <a:avLst/>
          </a:prstGeom>
          <a:solidFill>
            <a:srgbClr val="E8F4FD"/>
          </a:solidFill>
          <a:ln w="127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282696"/>
            <a:ext cx="502920" cy="987552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5" y="353872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328415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Keine Doppel-Protein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63016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Hähnchen + Thunfisch im selben Gericht verboten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79" y="3282696"/>
            <a:ext cx="5577840" cy="987552"/>
          </a:xfrm>
          <a:prstGeom prst="rect">
            <a:avLst/>
          </a:prstGeom>
          <a:solidFill>
            <a:srgbClr val="E8F4FD"/>
          </a:solidFill>
          <a:ln w="12700"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79" y="3282696"/>
            <a:ext cx="502920" cy="98755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5" y="353872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328415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Keine Doppel-Stärke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63016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Reis + Nudeln gleichzeitig: strukturell falsch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5577840" cy="987552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398264"/>
            <a:ext cx="502920" cy="9875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5" y="4654296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44398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Kein Süß-Herzhaft-Mix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745736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Honig + Hähnchenbrust: kulinarisch inkohärent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79" y="4398264"/>
            <a:ext cx="5577840" cy="987552"/>
          </a:xfrm>
          <a:prstGeom prst="rect">
            <a:avLst/>
          </a:prstGeom>
          <a:solidFill>
            <a:srgbClr val="E8F4FD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79" y="4398264"/>
            <a:ext cx="502920" cy="9875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63055" y="4654296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444398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Titel-Zutaten-Match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745736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'Lachs-Bowl' ohne Lachs → abgelehnt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513831"/>
            <a:ext cx="5577840" cy="987552"/>
          </a:xfrm>
          <a:prstGeom prst="rect">
            <a:avLst/>
          </a:prstGeom>
          <a:solidFill>
            <a:srgbClr val="E8F4FD"/>
          </a:solidFill>
          <a:ln w="1270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5513831"/>
            <a:ext cx="502920" cy="987552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5" y="5769864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559551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Min. 3 Kochschritte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861303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'Alles in eine Schüssel' ist kein Rezept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79" y="5513831"/>
            <a:ext cx="5577840" cy="987552"/>
          </a:xfrm>
          <a:prstGeom prst="rect">
            <a:avLst/>
          </a:prstGeom>
          <a:solidFill>
            <a:srgbClr val="E8F4FD"/>
          </a:solidFill>
          <a:ln w="1270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26479" y="5513831"/>
            <a:ext cx="502920" cy="987552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63055" y="5769864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5559551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Makros im Zielbereich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5861303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Erst MAPE-K Reparatur versuchen, dann ablehnen wenn noch outside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56832"/>
            <a:ext cx="114757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656832"/>
            <a:ext cx="11155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Knowledge Base (MAPE-K K): PROTEIN = {'hähnchen', 'thunfisch', …} | STARCH = {'reis', 'nudeln', …} | SWEET = {'honig', 'zucker', …}  — pflegen wenn neue Zutaten kommen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Zweistufiges Laden — UX trifft KI-Latenz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Progressive Loading statt 90 Sekunden Wartezeit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16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3840480" cy="1828800"/>
          </a:xfrm>
          <a:prstGeom prst="rect">
            <a:avLst/>
          </a:prstGeom>
          <a:solidFill>
            <a:srgbClr val="FFF0F0"/>
          </a:solidFill>
          <a:ln w="10160"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Das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 Ollama-Call = 10–35s
3 Rezepte nacheinander = 45–105s
→ Inakzeptable Wartezeit
→ Nutzer denkt, App ist abgestürzt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005840"/>
            <a:ext cx="3840480" cy="1828800"/>
          </a:xfrm>
          <a:prstGeom prst="rect">
            <a:avLst/>
          </a:prstGeom>
          <a:solidFill>
            <a:srgbClr val="F0FFF0"/>
          </a:solidFill>
          <a:ln w="1016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051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Die Lösung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3716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Phase 1: count=1 → sofort erstes Rezept
→ Nutzer liest es bereits
Phase 2: count=2, exclude=[Phase1]
→ zwei weitere im Hintergrund
→ in Rail einblenden wenn fertig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005840"/>
            <a:ext cx="3520440" cy="1828800"/>
          </a:xfrm>
          <a:prstGeom prst="rect">
            <a:avLst/>
          </a:prstGeom>
          <a:solidFill>
            <a:srgbClr val="E8F4FD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051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</a:rPr>
              <a:t>Race-Condition-Schutz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3716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requestToken in planner.js
→ schneller Doppelklick
→ nur letzter Request zählt
→ veraltete Antworten werden verworfen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862072"/>
            <a:ext cx="7717536" cy="3877056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71800"/>
            <a:ext cx="7498079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69">
                <a:solidFill>
                  <a:srgbClr val="D4D4D4"/>
                </a:solidFill>
                <a:latin typeface="Courier New"/>
              </a:rPr>
              <a:t>// planner.js — zweistufiges Laden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let requestToken = 0;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async function loadFreestyleRecipe() {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const myToken = ++requestToken;   // Race-Condition-Schutz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// Phase 1: sofort ein Rezept (count=1, temperature=0.15)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const r1 = await fetch('/asaai/recipes/freestyle', {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method: 'POST',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body: JSON.stringify({...goal, count: 1})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});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if (myToken !== requestToken) return;  // veraltet → verwerfen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const first = await r1.json();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renderDetail(first.recipes[0]);        // ← User sieht sofort etwas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// Phase 2: zwei weitere im Hintergrund (count=2, exclude=[first.title])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const r2 = await fetch('/asaai/recipes/freestyle', {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method: 'POST',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body: JSON.stringify({...goal, count: 2,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                          exclude: [first.recipes[0].title]})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});</a:t>
            </a:r>
          </a:p>
          <a:p>
            <a:r>
              <a:rPr sz="869">
                <a:solidFill>
                  <a:srgbClr val="569CD6"/>
                </a:solidFill>
                <a:latin typeface="Courier New"/>
              </a:rPr>
              <a:t>    if (myToken !== requestToken) return;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const more = await r2.json();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    renderRail([first.recipes[0], ...more.recipes]);  // ← alle 3 in Rail</a:t>
            </a:r>
          </a:p>
          <a:p>
            <a:r>
              <a:rPr sz="869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971800"/>
            <a:ext cx="3749039" cy="3611880"/>
          </a:xfrm>
          <a:prstGeom prst="rect">
            <a:avLst/>
          </a:prstGeom>
          <a:solidFill>
            <a:srgbClr val="181818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017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CCFF"/>
                </a:solidFill>
              </a:rPr>
              <a:t>Timing (Beispiel: qwen3.5)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364992"/>
            <a:ext cx="640080" cy="2011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36499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364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Klick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913632"/>
            <a:ext cx="640080" cy="2011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9136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9136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POST Phase 1 gesendet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462272"/>
            <a:ext cx="640080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4622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35s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462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Rezept 1 angezeigt 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010912"/>
            <a:ext cx="640080" cy="201168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501091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37s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50109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POST Phase 2 gesendet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5559552"/>
            <a:ext cx="640080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55595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68s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5595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Rezept 2+3 eingeblendet 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3364992"/>
            <a:ext cx="54864" cy="285292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6656832"/>
            <a:ext cx="11430000" cy="1097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65683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5C518"/>
                </a:solidFill>
              </a:rPr>
              <a:t>KI-Systeme haben andere Latenz-Profile als klassische Web-Backends. Progressive Loading ist hier kein Luxus — es ist Voraussetzung für benutzbare UX.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Das zentrale Architektur-Prinzip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Vertraue dem Modell nicht — berechne selbst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17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005840"/>
            <a:ext cx="941832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078992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C518"/>
                </a:solidFill>
              </a:rPr>
              <a:t>„ Das Backend vertraut den Modellzahlen nicht. LLM-estimated_macros werden komplett ignoriert. Nährwerte werden aus Gramm-Mengen × /100g-Werten der echten Produkte berechnet. Immer.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066543"/>
            <a:ext cx="11649456" cy="2871215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76272"/>
            <a:ext cx="1143000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A9955"/>
                </a:solidFill>
                <a:latin typeface="Courier New"/>
              </a:rPr>
              <a:t># freestyle_recipe_support.py — computed_macros()</a:t>
            </a:r>
          </a:p>
          <a:p>
            <a:r>
              <a:rPr sz="919">
                <a:solidFill>
                  <a:srgbClr val="569CD6"/>
                </a:solidFill>
                <a:latin typeface="Courier New"/>
              </a:rPr>
              <a:t>def computed_macros(recipe, fridge_items):</a:t>
            </a:r>
          </a:p>
          <a:p>
            <a:r>
              <a:rPr sz="919">
                <a:solidFill>
                  <a:srgbClr val="D4D4D4"/>
                </a:solidFill>
                <a:latin typeface="Courier New"/>
              </a:rPr>
              <a:t>    kcal = protein = carbs = fat = 0.0</a:t>
            </a:r>
          </a:p>
          <a:p>
            <a:r>
              <a:rPr sz="919">
                <a:solidFill>
                  <a:srgbClr val="569CD6"/>
                </a:solidFill>
                <a:latin typeface="Courier New"/>
              </a:rPr>
              <a:t>    for ingredient in recipe["fridge_ingredients"]:</a:t>
            </a:r>
          </a:p>
          <a:p>
            <a:r>
              <a:rPr sz="919">
                <a:solidFill>
                  <a:srgbClr val="D4D4D4"/>
                </a:solidFill>
                <a:latin typeface="Courier New"/>
              </a:rPr>
              <a:t>        product = fridge_items[ingredient["id"]]</a:t>
            </a:r>
          </a:p>
          <a:p>
            <a:r>
              <a:rPr sz="919">
                <a:solidFill>
                  <a:srgbClr val="D4D4D4"/>
                </a:solidFill>
                <a:latin typeface="Courier New"/>
              </a:rPr>
              <a:t>        factor  = ingredient["amount_g"] / 100       # ← Gramm aus dem Rezept</a:t>
            </a:r>
          </a:p>
          <a:p>
            <a:r>
              <a:rPr sz="919">
                <a:solidFill>
                  <a:srgbClr val="D4D4D4"/>
                </a:solidFill>
                <a:latin typeface="Courier New"/>
              </a:rPr>
              <a:t>        kcal    += product["kcal_per_100g"]    * factor  # ← Wert aus der DB</a:t>
            </a:r>
          </a:p>
          <a:p>
            <a:r>
              <a:rPr sz="919">
                <a:solidFill>
                  <a:srgbClr val="D4D4D4"/>
                </a:solidFill>
                <a:latin typeface="Courier New"/>
              </a:rPr>
              <a:t>        protein += product["protein_per_100g"] * factor</a:t>
            </a:r>
          </a:p>
          <a:p>
            <a:r>
              <a:rPr sz="919">
                <a:solidFill>
                  <a:srgbClr val="D4D4D4"/>
                </a:solidFill>
                <a:latin typeface="Courier New"/>
              </a:rPr>
              <a:t>        carbs   += product["carbs_per_100g"]   * factor</a:t>
            </a:r>
          </a:p>
          <a:p>
            <a:r>
              <a:rPr sz="919">
                <a:solidFill>
                  <a:srgbClr val="D4D4D4"/>
                </a:solidFill>
                <a:latin typeface="Courier New"/>
              </a:rPr>
              <a:t>        fat     += product["fat_per_100g"]     * factor</a:t>
            </a:r>
          </a:p>
          <a:p>
            <a:r>
              <a:rPr sz="919">
                <a:solidFill>
                  <a:srgbClr val="569CD6"/>
                </a:solidFill>
                <a:latin typeface="Courier New"/>
              </a:rPr>
              <a:t>    return {"kcal": round(kcal), "protein": round(protein),</a:t>
            </a:r>
          </a:p>
          <a:p>
            <a:r>
              <a:rPr sz="919">
                <a:solidFill>
                  <a:srgbClr val="D4D4D4"/>
                </a:solidFill>
                <a:latin typeface="Courier New"/>
              </a:rPr>
              <a:t>            "carbs": round(carbs), "fat": round(fat),</a:t>
            </a:r>
          </a:p>
          <a:p>
            <a:r>
              <a:rPr sz="919">
                <a:solidFill>
                  <a:srgbClr val="D4D4D4"/>
                </a:solidFill>
                <a:latin typeface="Courier New"/>
              </a:rPr>
              <a:t>            "macro_source": "computed_from_fridge_amounts"}</a:t>
            </a:r>
          </a:p>
          <a:p>
            <a:r>
              <a:rPr sz="919">
                <a:solidFill>
                  <a:srgbClr val="6A9955"/>
                </a:solidFill>
                <a:latin typeface="Courier New"/>
              </a:rPr>
              <a:t>    # ← "macro_source" erscheint im Frontend → Nutzer sieht, dass Werte echt sind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937760"/>
            <a:ext cx="5394960" cy="1737360"/>
          </a:xfrm>
          <a:prstGeom prst="rect">
            <a:avLst/>
          </a:prstGeom>
          <a:solidFill>
            <a:srgbClr val="E8F4FD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983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Warum dieser Ansatz?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2180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LLMs halluzinieren Nährwerte — besonders bei unbekannten Produkten. 'Schwarzwälder Kirschtorte: 50g Protein' ist plausibel klingende Fehlinformation. Für eine Fitness-App sind falsche Makros schlimmer als keine Makros.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937760"/>
            <a:ext cx="5394960" cy="1737360"/>
          </a:xfrm>
          <a:prstGeom prst="rect">
            <a:avLst/>
          </a:prstGeom>
          <a:solidFill>
            <a:srgbClr val="F0FFF0"/>
          </a:solidFill>
          <a:ln w="1016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4983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Konsequenzen des Designs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32180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1. Frontend zeigt immer korrekte Nährwerte (keine Halluzinationen)
2. Validierung kann ablehnen und reparieren, weil sie echte Zahlen hat
3. Hybrides System: LLM für Kreativität, Algebra für Präzision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656832"/>
            <a:ext cx="11430000" cy="10972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65683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Hybride Systeme: LLM für kreative Aufgaben (Rezeptideen, Kochschritte, Namen) · Deterministischer Code für Präzisionsaufgaben (Nährwert-Mathematik, Validierung)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Testabdeckung — 39 Tests, alle grün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pytest · monkeypatch · vollständig offline ausführbar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18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943600" cy="3611880"/>
          </a:xfrm>
          <a:prstGeom prst="rect">
            <a:avLst/>
          </a:prstGeom>
          <a:solidFill>
            <a:srgbClr val="E8F4FD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515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Test-Struktur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0292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147218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4A"/>
                </a:solidFill>
              </a:rPr>
              <a:t>test_freestyle_recipe.py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63677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</a:rPr>
              <a:t>Kern: valide Rezepte, Makros, Low-Carb-Reparatur, Retry, Warnungen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65376"/>
            <a:ext cx="50292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" y="192024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86537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4A"/>
                </a:solidFill>
              </a:rPr>
              <a:t>test_meal_tracker.py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084832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</a:rPr>
              <a:t>Settings, Tagessummen, User-Isolation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313432"/>
            <a:ext cx="50292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2368296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3134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4A"/>
                </a:solidFill>
              </a:rPr>
              <a:t>test_ollama_client.py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532888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</a:rPr>
              <a:t>Modell-Auflösung, Response-Parsing, 4-Ebenen-Prio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61488"/>
            <a:ext cx="50292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2816352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76148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4A"/>
                </a:solidFill>
              </a:rPr>
              <a:t>test_app_settings.py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2980944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</a:rPr>
              <a:t>Settings-Roundtrip, user-spezifisch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09544"/>
            <a:ext cx="50292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" y="326440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20954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4A"/>
                </a:solidFill>
              </a:rPr>
              <a:t>test_api_db.py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42900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</a:rPr>
              <a:t>OpenFoodFacts: Parsing, Multiplikatoren, Ranking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657600"/>
            <a:ext cx="50292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" y="3712463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65760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4A"/>
                </a:solidFill>
              </a:rPr>
              <a:t>test_nutrition_integration.py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87705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</a:rPr>
              <a:t>Einheitenrechnung g/ml/kg/stk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105656"/>
            <a:ext cx="50292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7" y="416052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10565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B4A"/>
                </a:solidFill>
              </a:rPr>
              <a:t>test_product_repo.py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325112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3333"/>
                </a:solidFill>
              </a:rPr>
              <a:t>Barcode/Name-Suche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572000"/>
            <a:ext cx="50292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7" y="462686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518"/>
                </a:solidFill>
              </a:rPr>
              <a:t>39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459028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GESAMT — alle grün 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1005840"/>
            <a:ext cx="5303520" cy="3611880"/>
          </a:xfrm>
          <a:prstGeom prst="rect">
            <a:avLst/>
          </a:prstGeom>
          <a:solidFill>
            <a:srgbClr val="181818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1051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CCFF"/>
                </a:solidFill>
              </a:rPr>
              <a:t>Live-Test (25.06.2026)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1389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Ollama erreichbar, qwen3.5:latest installiert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138988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8A745"/>
                </a:solidFill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183794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Flask-Start + GET 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1837943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8A745"/>
                </a:solidFill>
              </a:rPr>
              <a:t>✅ 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22860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Login demo/demo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61320" y="22860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8A745"/>
                </a:solidFill>
              </a:rPr>
              <a:t>✅ 302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27340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Rezeptplaner-Seite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1320" y="273405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8A745"/>
                </a:solidFill>
              </a:rPr>
              <a:t>✅ 200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31821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Rezeptgenerierung über echtes LLM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318211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8A745"/>
                </a:solidFill>
              </a:rPr>
              <a:t>✅ 200 in 33s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36301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macro_source: computed_from_fridge_amounts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61320" y="363016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8A745"/>
                </a:solidFill>
              </a:rPr>
              <a:t>✅ korrekt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40782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Test-Suite: python -m pytest -q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61320" y="407822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8A745"/>
                </a:solidFill>
              </a:rPr>
              <a:t>✅ 39 passed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074920"/>
            <a:ext cx="11430000" cy="1417320"/>
          </a:xfrm>
          <a:prstGeom prst="rect">
            <a:avLst/>
          </a:prstGeom>
          <a:solidFill>
            <a:srgbClr val="F5FFF5"/>
          </a:solidFill>
          <a:ln w="1016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Offline-Tests via monkeypatch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" y="5330952"/>
            <a:ext cx="11539728" cy="1179576"/>
          </a:xfrm>
          <a:prstGeom prst="rect">
            <a:avLst/>
          </a:prstGeom>
          <a:solidFill>
            <a:srgbClr val="28282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440680"/>
            <a:ext cx="113202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A9955"/>
                </a:solidFill>
                <a:latin typeface="Courier New"/>
              </a:rPr>
              <a:t># test_freestyle_recipe.py — Beispiel</a:t>
            </a:r>
          </a:p>
          <a:p>
            <a:r>
              <a:rPr sz="900">
                <a:solidFill>
                  <a:srgbClr val="569CD6"/>
                </a:solidFill>
                <a:latin typeface="Courier New"/>
              </a:rPr>
              <a:t>def test_valid_recipe_accepted(monkeypatch):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monkeypatch.setattr("freestyle_recipe.generate_from_ollama",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            lambda prompt, **kw: VALID_RECIPE_JSON)    # ← kein Ollama nötig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result = generate_freestyle_recipes(FRIDGE_ITEMS, DAILY_GOAL, count=1)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assert len(result) == 1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assert result[0]["macro_source"] == "computed_from_fridge_amounts"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6656832"/>
            <a:ext cx="11430000" cy="1097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6656832"/>
            <a:ext cx="10972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CCEE"/>
                </a:solidFill>
              </a:rPr>
              <a:t>Externe Dienste (Ollama, OpenFoodFacts) per monkeypatch ersetzt → 100% reproduzierbar, kein Netzwerk, kein lokaler LLM-Server nötig für die Test-Suite.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Zusammenfassung — Von der Vorlesung zur Produktion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Alle 5 ASaAI-Konzepte in einer lauffähigen Applikation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CC"/>
                </a:solidFill>
              </a:rPr>
              <a:t>FitFridge – Adaptive Systems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476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ACC"/>
                </a:solidFill>
              </a:rPr>
              <a:t>18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834640" cy="301752"/>
          </a:xfrm>
          <a:prstGeom prst="rect">
            <a:avLst/>
          </a:prstGeom>
          <a:solidFill>
            <a:srgbClr val="1A2B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0881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Vorlesungsthema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051560"/>
            <a:ext cx="4846320" cy="301752"/>
          </a:xfrm>
          <a:prstGeom prst="rect">
            <a:avLst/>
          </a:prstGeom>
          <a:solidFill>
            <a:srgbClr val="1A2B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8813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FitFridge-Umsetzung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051560"/>
            <a:ext cx="3840480" cy="301752"/>
          </a:xfrm>
          <a:prstGeom prst="rect">
            <a:avLst/>
          </a:prstGeom>
          <a:solidFill>
            <a:srgbClr val="1A2B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088136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Datei / Funktion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353312"/>
            <a:ext cx="283464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13807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LLMs / In-Context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353312"/>
            <a:ext cx="484632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38074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JSON-Prompt-Modus, KI-Nährwertschätzung ohne Fine-Tuning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353312"/>
            <a:ext cx="384048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38074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ollama_client.py, food_estimate.py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655064"/>
            <a:ext cx="2834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16824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RAG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1655064"/>
            <a:ext cx="4846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168249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Kühlschrank-DB → Prompt injiziert → Rezept generiert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655064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1682496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freestyle_recipe.py:build_prompt()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1956815"/>
            <a:ext cx="283464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198424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Agentic Systems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1956815"/>
            <a:ext cx="484632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1984247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Retry-Loop mit Validierungs-Feedback + Stop-Condition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1956815"/>
            <a:ext cx="384048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1984247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freestyle_recipe.py:_run()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258568"/>
            <a:ext cx="2834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59" y="228599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Recommender Systems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2258568"/>
            <a:ext cx="4846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2285999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Content-Based Filtering: Makro-Match + Relevanz-Ranking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2258568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2285999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freestyle_recipe_support.py, openfoodfacts_client.py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560320"/>
            <a:ext cx="283464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258775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Adaptive Systems / MAPE-K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2560320"/>
            <a:ext cx="484632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258775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Monitor→Analyze→Plan (Koordinatenabstieg)→Execute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2560320"/>
            <a:ext cx="384048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2587751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freestyle_recipe_support.py:_fit_amounts()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862072"/>
            <a:ext cx="2834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59" y="288950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Kontextbasierte Adaptivität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2862072"/>
            <a:ext cx="4846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2889503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Prompt variiert je nach Kühlschrank, Ziel, Kategorie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1000" y="2862072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2889503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_macro_strategy_hint()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163824"/>
            <a:ext cx="283464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59" y="31912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Nutzerbasierte Adaptivität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54680" y="3163824"/>
            <a:ext cx="484632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0" y="31912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Makro-Reparatur zielt auf individuelles Tagesziel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3163824"/>
            <a:ext cx="3840480" cy="301752"/>
          </a:xfrm>
          <a:prstGeom prst="rect">
            <a:avLst/>
          </a:prstGeom>
          <a:solidFill>
            <a:srgbClr val="E8F4F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3191256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macros_within_targets()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465576"/>
            <a:ext cx="28346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59" y="34930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Systemzentrische Adaptivität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54680" y="3465576"/>
            <a:ext cx="4846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34930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Selbst-heilende Retry-Schleife ohne Nutzereingriff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01000" y="3465576"/>
            <a:ext cx="3840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20" y="3493008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_run() + validation_feedback()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572000"/>
            <a:ext cx="11521440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5994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4 Takeaways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983480"/>
            <a:ext cx="5577840" cy="777240"/>
          </a:xfrm>
          <a:prstGeom prst="rect">
            <a:avLst/>
          </a:prstGeom>
          <a:solidFill>
            <a:srgbClr val="E8F4FD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0040" y="4983480"/>
            <a:ext cx="164592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074920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RAG, Agentic, MAPE-K sind keine akademischen Abstraktionen —
sie sind praktische Lösungsmuster für reale Probleme.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79" y="4983480"/>
            <a:ext cx="5577840" cy="777240"/>
          </a:xfrm>
          <a:prstGeom prst="rect">
            <a:avLst/>
          </a:prstGeom>
          <a:solidFill>
            <a:srgbClr val="E8F4FD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26479" y="4983480"/>
            <a:ext cx="164592" cy="7772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79" y="5074920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LLMs sind mächtig, aber nicht zuverlässig genug für Präzisionsaufgaben.
Richtig: LLM für Kreativität, Algebra für Korrektheit.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870448"/>
            <a:ext cx="5577840" cy="777240"/>
          </a:xfrm>
          <a:prstGeom prst="rect">
            <a:avLst/>
          </a:prstGeom>
          <a:solidFill>
            <a:srgbClr val="E8F4FD"/>
          </a:solidFill>
          <a:ln w="1524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0040" y="5870448"/>
            <a:ext cx="164592" cy="77724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961888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Ein sauberes Schichtenmodell ist die Voraussetzung, dass KI-Komponenten
testbar und wartbar bleiben.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79" y="5870448"/>
            <a:ext cx="5577840" cy="777240"/>
          </a:xfrm>
          <a:prstGeom prst="rect">
            <a:avLst/>
          </a:prstGeom>
          <a:solidFill>
            <a:srgbClr val="E8F4FD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6479" y="5870448"/>
            <a:ext cx="164592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55079" y="5961888"/>
            <a:ext cx="5257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Degradation ist kein Fehler, sondern ein Feature: Leerer Kühlschrank,
LLM offline → verständliche Hinweise statt Crashes.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6656832"/>
            <a:ext cx="11521440" cy="137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656832"/>
            <a:ext cx="10972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CCEE"/>
                </a:solidFill>
              </a:rPr>
              <a:t>~2.500 Zeilen Python  ·  ~870 Zeilen JS/CSS  ·  ~640 Zeilen Templates  ·  39 Tests ✅  ·  python -m venv .venv &amp;&amp; pip install -r requirements.txt &amp;&amp; flask --app flaskr_new run --debug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